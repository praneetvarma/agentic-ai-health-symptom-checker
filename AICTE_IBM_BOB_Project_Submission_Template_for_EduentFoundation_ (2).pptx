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90" r:id="rId3"/>
    <p:sldId id="291" r:id="rId4"/>
    <p:sldId id="292" r:id="rId6"/>
    <p:sldId id="293" r:id="rId7"/>
    <p:sldId id="294"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custDataLst>
              <p:tags r:id="rId1"/>
            </p:custDataLst>
          </p:nvPr>
        </p:nvGraphicFramePr>
        <p:xfrm>
          <a:off x="1210945" y="2626995"/>
          <a:ext cx="9488805" cy="2353945"/>
        </p:xfrm>
        <a:graphic>
          <a:graphicData uri="http://schemas.openxmlformats.org/drawingml/2006/table">
            <a:tbl>
              <a:tblPr>
                <a:noFill/>
                <a:tableStyleId>{0AAD8F4D-43EB-41E5-8A38-28AB6DFB1B60}</a:tableStyleId>
              </a:tblPr>
              <a:tblGrid>
                <a:gridCol w="2085975"/>
                <a:gridCol w="2467610"/>
                <a:gridCol w="2711450"/>
                <a:gridCol w="2223770"/>
              </a:tblGrid>
              <a:tr h="1057275">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296670">
                <a:tc>
                  <a:txBody>
                    <a:bodyPr/>
                    <a:lstStyle/>
                    <a:p>
                      <a:pPr marL="0" marR="0" lvl="0" indent="0" algn="l" rtl="0">
                        <a:spcBef>
                          <a:spcPts val="0"/>
                        </a:spcBef>
                        <a:spcAft>
                          <a:spcPts val="0"/>
                        </a:spcAft>
                        <a:buNone/>
                      </a:pPr>
                      <a:r>
                        <a:rPr lang="en-IN" sz="2000"/>
                        <a:t>Praneet Varma</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praneetvarma45@gmail.com</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6302142203</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 </a:t>
            </a:r>
            <a:r>
              <a:rPr lang="en-IN" altLang="en-US" sz="2000" b="1"/>
              <a:t>HealthCare</a:t>
            </a:r>
            <a:r>
              <a:rPr lang="en-US" sz="2000" b="1"/>
              <a:t> </a:t>
            </a:r>
            <a:r>
              <a:rPr lang="en-US" sz="2400" b="1"/>
              <a:t>]</a:t>
            </a:r>
            <a:endParaRPr lang="en-US" sz="2400" b="1"/>
          </a:p>
        </p:txBody>
      </p:sp>
      <p:sp>
        <p:nvSpPr>
          <p:cNvPr id="7" name="TextBox 6"/>
          <p:cNvSpPr txBox="1"/>
          <p:nvPr/>
        </p:nvSpPr>
        <p:spPr>
          <a:xfrm>
            <a:off x="1206162" y="551965"/>
            <a:ext cx="9581177" cy="521970"/>
          </a:xfrm>
          <a:prstGeom prst="rect">
            <a:avLst/>
          </a:prstGeom>
          <a:noFill/>
        </p:spPr>
        <p:txBody>
          <a:bodyPr wrap="square" rtlCol="0">
            <a:spAutoFit/>
          </a:bodyPr>
          <a:lstStyle/>
          <a:p>
            <a:r>
              <a:rPr lang="en-US" sz="2400" b="1"/>
              <a:t>Project Tile – [</a:t>
            </a:r>
            <a:r>
              <a:rPr lang="en-US" altLang="en-US" sz="2800" b="1"/>
              <a:t>Agentic AI Health Symptom Checker</a:t>
            </a:r>
            <a:r>
              <a:rPr lang="en-US" altLang="en-US" sz="2400" b="1"/>
              <a:t> </a:t>
            </a:r>
            <a:r>
              <a:rPr lang="en-US" sz="2400" b="1"/>
              <a:t>]</a:t>
            </a:r>
            <a:endParaRPr lang="en-US" sz="2400" b="1"/>
          </a:p>
        </p:txBody>
      </p:sp>
      <p:sp>
        <p:nvSpPr>
          <p:cNvPr id="3" name="TextBox 2"/>
          <p:cNvSpPr txBox="1"/>
          <p:nvPr/>
        </p:nvSpPr>
        <p:spPr>
          <a:xfrm>
            <a:off x="1211005" y="5210667"/>
            <a:ext cx="6456743" cy="39878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endParaRPr lang="en-US" sz="2000">
              <a:solidFill>
                <a:srgbClr val="FF0000"/>
              </a:solidFill>
            </a:endParaRPr>
          </a:p>
        </p:txBody>
      </p:sp>
      <p:pic>
        <p:nvPicPr>
          <p:cNvPr id="2" name="Picture 1"/>
          <p:cNvPicPr>
            <a:picLocks noChangeAspect="1"/>
          </p:cNvPicPr>
          <p:nvPr/>
        </p:nvPicPr>
        <p:blipFill>
          <a:blip r:embed="rId2"/>
          <a:stretch>
            <a:fillRect/>
          </a:stretch>
        </p:blipFill>
        <p:spPr>
          <a:xfrm>
            <a:off x="3863975" y="3769360"/>
            <a:ext cx="1150620" cy="11582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908040"/>
          </a:xfrm>
          <a:prstGeom prst="rect">
            <a:avLst/>
          </a:prstGeom>
          <a:noFill/>
        </p:spPr>
        <p:txBody>
          <a:bodyPr wrap="square" rtlCol="0">
            <a:spAutoFit/>
          </a:bodyPr>
          <a:lstStyle/>
          <a:p>
            <a:pPr fontAlgn="base"/>
            <a:r>
              <a:rPr lang="en-US" b="1" dirty="0"/>
              <a:t>Problem Statement : </a:t>
            </a:r>
            <a:r>
              <a:rPr lang="en-US" altLang="en-US" b="1">
                <a:sym typeface="+mn-ea"/>
              </a:rPr>
              <a:t>Agentic AI Health Symptom Checker</a:t>
            </a:r>
            <a:r>
              <a:rPr lang="en-US" altLang="en-US" b="1">
                <a:highlight>
                  <a:srgbClr val="FFFF00"/>
                </a:highlight>
                <a:sym typeface="+mn-ea"/>
              </a:rPr>
              <a:t> </a:t>
            </a:r>
            <a:endParaRPr lang="en-US" dirty="0"/>
          </a:p>
          <a:p>
            <a:pPr fontAlgn="base"/>
            <a:endParaRPr lang="en-US" b="1" dirty="0"/>
          </a:p>
          <a:p>
            <a:pPr fontAlgn="base"/>
            <a:r>
              <a:rPr lang="en-US" b="1" dirty="0"/>
              <a:t>The Challenge</a:t>
            </a:r>
            <a:r>
              <a:rPr lang="en-US" dirty="0"/>
              <a:t> </a:t>
            </a:r>
            <a:endParaRPr lang="en-US" dirty="0"/>
          </a:p>
          <a:p>
            <a:pPr fontAlgn="base"/>
            <a:r>
              <a:rPr lang="en-US" altLang="en-US" dirty="0"/>
              <a:t>People often struggle to understand their symptoms and determine when medical attention is needed. Unreliable online health information can also lead to misinformation and unnecessary anxiety.</a:t>
            </a:r>
            <a:endParaRPr lang="en-US" altLang="en-US" dirty="0"/>
          </a:p>
          <a:p>
            <a:pPr fontAlgn="base"/>
            <a:endParaRPr lang="en-US" altLang="en-US" dirty="0"/>
          </a:p>
          <a:p>
            <a:pPr fontAlgn="base"/>
            <a:r>
              <a:rPr lang="en-US" b="1" dirty="0"/>
              <a:t>The Objective</a:t>
            </a:r>
            <a:r>
              <a:rPr lang="en-US" dirty="0"/>
              <a:t> </a:t>
            </a:r>
            <a:endParaRPr lang="en-US" dirty="0"/>
          </a:p>
          <a:p>
            <a:pPr fontAlgn="base"/>
            <a:r>
              <a:rPr lang="en-US" altLang="en-US" dirty="0"/>
              <a:t>Build an Agentic AI Health Symptom Checker that provides personalized and reliable health guidance. The solution should:</a:t>
            </a:r>
            <a:endParaRPr lang="en-US" altLang="en-US" dirty="0"/>
          </a:p>
          <a:p>
            <a:pPr fontAlgn="base"/>
            <a:endParaRPr lang="en-US" altLang="en-US" dirty="0"/>
          </a:p>
          <a:p>
            <a:pPr fontAlgn="base"/>
            <a:r>
              <a:rPr lang="en-US" altLang="en-US" dirty="0"/>
              <a:t>Symptom Analysis – Analyze user symptoms and identify possible health conditions.</a:t>
            </a:r>
            <a:endParaRPr lang="en-US" altLang="en-US" dirty="0"/>
          </a:p>
          <a:p>
            <a:pPr fontAlgn="base"/>
            <a:endParaRPr lang="en-US" altLang="en-US" dirty="0"/>
          </a:p>
          <a:p>
            <a:pPr fontAlgn="base"/>
            <a:r>
              <a:rPr lang="en-US" altLang="en-US" dirty="0"/>
              <a:t>Medical RAG Retrieval – Retrieve verified medical information from trusted sources.</a:t>
            </a:r>
            <a:endParaRPr lang="en-US" altLang="en-US" dirty="0"/>
          </a:p>
          <a:p>
            <a:pPr fontAlgn="base"/>
            <a:endParaRPr lang="en-US" altLang="en-US" dirty="0"/>
          </a:p>
          <a:p>
            <a:pPr fontAlgn="base"/>
            <a:r>
              <a:rPr lang="en-US" altLang="en-US" dirty="0"/>
              <a:t>Health Risk Assessment – Assess urgency and identify potential warning signs.</a:t>
            </a:r>
            <a:endParaRPr lang="en-US" altLang="en-US" dirty="0"/>
          </a:p>
          <a:p>
            <a:pPr fontAlgn="base"/>
            <a:endParaRPr lang="en-US" altLang="en-US" dirty="0"/>
          </a:p>
          <a:p>
            <a:pPr fontAlgn="base"/>
            <a:r>
              <a:rPr lang="en-US" altLang="en-US" dirty="0"/>
              <a:t>Preventive Health Guidance – Provide self-care advice and when to consult a doctor.</a:t>
            </a:r>
            <a:endParaRPr lang="en-US" altLang="en-US" dirty="0"/>
          </a:p>
          <a:p>
            <a:pPr fontAlgn="base"/>
            <a:endParaRPr lang="en-US" altLang="en-US" dirty="0"/>
          </a:p>
          <a:p>
            <a:pPr fontAlgn="base"/>
            <a:r>
              <a:rPr lang="en-US" altLang="en-US" dirty="0"/>
              <a:t>Multi-Agent System –</a:t>
            </a:r>
            <a:endParaRPr lang="en-US" altLang="en-US" dirty="0"/>
          </a:p>
          <a:p>
            <a:pPr fontAlgn="base"/>
            <a:r>
              <a:rPr lang="en-US" altLang="en-US" dirty="0"/>
              <a:t>Symptom Agent (analyzes symptoms)</a:t>
            </a:r>
            <a:endParaRPr lang="en-US" altLang="en-US" dirty="0"/>
          </a:p>
          <a:p>
            <a:pPr fontAlgn="base"/>
            <a:r>
              <a:rPr lang="en-US" altLang="en-US" dirty="0"/>
              <a:t>Medical Knowledge Agent (retrieves medical data)</a:t>
            </a:r>
            <a:endParaRPr lang="en-US" altLang="en-US" dirty="0"/>
          </a:p>
          <a:p>
            <a:pPr fontAlgn="base"/>
            <a:r>
              <a:rPr lang="en-US" altLang="en-US" dirty="0"/>
              <a:t>Health Advisory Agent (provides health guidance)</a:t>
            </a:r>
            <a:endParaRPr lang="en-US" altLang="en-US" dirty="0"/>
          </a:p>
          <a:p>
            <a:pPr fontAlgn="base"/>
            <a:r>
              <a:rPr lang="en-US" altLang="en-US" dirty="0"/>
              <a:t>Safety Agent (checks risks and red flags)</a:t>
            </a:r>
            <a:endParaRPr lang="en-US" altLang="en-US" dirty="0"/>
          </a:p>
          <a:p>
            <a:pPr fontAlgn="base"/>
            <a:endParaRPr lang="en-US" altLang="en-US" dirty="0"/>
          </a:p>
          <a:p>
            <a:pPr fontAlgn="base"/>
            <a:r>
              <a:rPr lang="en-US" altLang="en-US" dirty="0"/>
              <a:t>Multi-Language Support – Support symptom input and guidance in multiple languages.</a:t>
            </a:r>
            <a:endParaRPr lang="en-US" altLang="en-US" dirty="0"/>
          </a:p>
          <a:p>
            <a:pPr fontAlgn="base"/>
            <a:endParaRPr lang="en-US" altLang="en-US" dirty="0"/>
          </a:p>
          <a:p>
            <a:pPr fontAlgn="base"/>
            <a:r>
              <a:rPr lang="en-US" altLang="en-US" dirty="0"/>
              <a:t>Health Dashboard – Display symptom history, risk levels, and recommendations.</a:t>
            </a:r>
            <a:endParaRPr lang="en-US" alt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399915"/>
          </a:xfrm>
          <a:prstGeom prst="rect">
            <a:avLst/>
          </a:prstGeom>
          <a:noFill/>
        </p:spPr>
        <p:txBody>
          <a:bodyPr wrap="square" rtlCol="0">
            <a:spAutoFit/>
          </a:bodyPr>
          <a:lstStyle/>
          <a:p>
            <a:pPr fontAlgn="base"/>
            <a:endParaRPr lang="en-US" b="1"/>
          </a:p>
          <a:p>
            <a:r>
              <a:rPr lang="en-US" b="1"/>
              <a:t>Proposed Solution: AI-Powered Nutrition Agent</a:t>
            </a:r>
            <a:endParaRPr lang="en-US" b="1"/>
          </a:p>
          <a:p>
            <a:r>
              <a:rPr lang="en-US" altLang="en-US" b="1"/>
              <a:t>The proposed solution is an Agentic AI Health Symptom Checker built using IBM Cloud, watsonx.ai, and IBM Granite 4 to provide personalized, evidence-based, and safe health guidance.</a:t>
            </a:r>
            <a:endParaRPr lang="en-US" altLang="en-US" b="1"/>
          </a:p>
          <a:p>
            <a:endParaRPr lang="en-US" altLang="en-US" b="1"/>
          </a:p>
          <a:p>
            <a:r>
              <a:rPr lang="en-US" altLang="en-US" b="1"/>
              <a:t>The system analyzes user-provided symptoms along with age, duration, severity, existing conditions, medications, and allergies to provide relevant health insights. It retrieves verified medical information from trusted sources such as WHO, CDC, and government health guidelines to support its responses.</a:t>
            </a:r>
            <a:endParaRPr lang="en-US" altLang="en-US" b="1"/>
          </a:p>
          <a:p>
            <a:endParaRPr lang="en-US" altLang="en-US" b="1"/>
          </a:p>
          <a:p>
            <a:r>
              <a:rPr lang="en-US" altLang="en-US" b="1"/>
              <a:t>The solution consists of four key agents:</a:t>
            </a:r>
            <a:endParaRPr lang="en-US" altLang="en-US" b="1"/>
          </a:p>
          <a:p>
            <a:endParaRPr lang="en-US" altLang="en-US" b="1"/>
          </a:p>
          <a:p>
            <a:r>
              <a:rPr lang="en-US" altLang="en-US" b="1"/>
              <a:t>Symptom Analysis Agent – Understands and analyzes symptoms and patient context.</a:t>
            </a:r>
            <a:endParaRPr lang="en-US" altLang="en-US" b="1"/>
          </a:p>
          <a:p>
            <a:r>
              <a:rPr lang="en-US" altLang="en-US" b="1"/>
              <a:t>Medical Knowledge Agent – Retrieves relevant and verified medical information.</a:t>
            </a:r>
            <a:endParaRPr lang="en-US" altLang="en-US" b="1"/>
          </a:p>
          <a:p>
            <a:r>
              <a:rPr lang="en-US" altLang="en-US" b="1"/>
              <a:t>Health Advisory Agent – Provides preventive advice, home-care guidance, and recommended next steps.</a:t>
            </a:r>
            <a:endParaRPr lang="en-US" altLang="en-US" b="1"/>
          </a:p>
          <a:p>
            <a:r>
              <a:rPr lang="en-US" altLang="en-US" b="1"/>
              <a:t>Safety &amp; Triage Agent – Detects red-flag symptoms and determines the appropriate urgency level.</a:t>
            </a:r>
            <a:endParaRPr lang="en-US" altLang="en-US" b="1"/>
          </a:p>
          <a:p>
            <a:endParaRPr lang="en-US" altLang="en-US" b="1"/>
          </a:p>
          <a:p>
            <a:r>
              <a:rPr lang="en-US" altLang="en-US" b="1"/>
              <a:t>The platform provides an interactive dashboard showing possible conditions, urgency level, home remedies, warning signs, and when to consult a doctor, along with multi-language support.</a:t>
            </a:r>
            <a:endParaRPr lang="en-US" altLang="en-US" b="1"/>
          </a:p>
          <a:p>
            <a:endParaRPr lang="en-US" altLang="en-US" b="1"/>
          </a:p>
          <a:p>
            <a:r>
              <a:rPr lang="en-US" altLang="en-US" b="1"/>
              <a:t>Overall, the solution provides a safe, personalized, and accessible AI health assistant powered by IBM Granite.</a:t>
            </a:r>
            <a:endParaRPr lang="en-US" altLang="en-US" b="1"/>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4677410"/>
          </a:xfrm>
          <a:prstGeom prst="rect">
            <a:avLst/>
          </a:prstGeom>
          <a:noFill/>
        </p:spPr>
        <p:txBody>
          <a:bodyPr wrap="square" rtlCol="0">
            <a:spAutoFit/>
          </a:bodyPr>
          <a:lstStyle/>
          <a:p>
            <a:pPr marL="285750" indent="-285750">
              <a:buFont typeface="Arial" panose="020B0604020202020204" pitchFamily="34" charset="0"/>
              <a:buChar char="•"/>
            </a:pPr>
            <a:r>
              <a:rPr lang="en-US" altLang="en-US" sz="1800"/>
              <a:t>IBM Bob Platform – For designing and orchestrating multi-agent workflows visually.</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IBM Granite Model – e.g., ibm-granite-3-2-8b – For natural language understanding, symptom analysis, reasoning, and personalized health guidance.</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IBM Cloud – Provides the infrastructure to build, deploy, and scale the Health Symptom Checker securely and efficiently.</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Medical Knowledge Retrieval – Fetches verified medical information from trusted sources such as WHO, CDC, and government health guidelines to support accurate responses.</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IBM watsonx.ai – For model deployment, AI development, monitoring, and governance.</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Vector Database (FAISS/Chroma) – Only if you are actually using RAG to store and retrieve medical documents efficiently.</a:t>
            </a:r>
            <a:endParaRPr lang="en-US" alt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980" y="862965"/>
            <a:ext cx="5481955" cy="5600700"/>
          </a:xfrm>
          <a:prstGeom prst="rect">
            <a:avLst/>
          </a:prstGeom>
          <a:noFill/>
        </p:spPr>
        <p:txBody>
          <a:bodyPr wrap="square" rtlCol="0">
            <a:spAutoFit/>
          </a:bodyPr>
          <a:lstStyle/>
          <a:p>
            <a:pPr marL="342900" indent="-342900">
              <a:buFont typeface="+mj-lt"/>
              <a:buAutoNum type="arabicPeriod"/>
            </a:pPr>
            <a:endParaRPr lang="en-US"/>
          </a:p>
          <a:p>
            <a:r>
              <a:rPr lang="en-US" altLang="en-US" sz="2000"/>
              <a:t>backend/</a:t>
            </a:r>
            <a:endParaRPr lang="en-US" altLang="en-US" sz="2000"/>
          </a:p>
          <a:p>
            <a:r>
              <a:rPr lang="en-US" altLang="en-US" sz="2000"/>
              <a:t>├── server.js</a:t>
            </a:r>
            <a:endParaRPr lang="en-US" altLang="en-US" sz="2000"/>
          </a:p>
          <a:p>
            <a:r>
              <a:rPr lang="en-US" altLang="en-US" sz="2000"/>
              <a:t>├── package.json</a:t>
            </a:r>
            <a:endParaRPr lang="en-US" altLang="en-US" sz="2000"/>
          </a:p>
          <a:p>
            <a:r>
              <a:rPr lang="en-US" altLang="en-US" sz="2000"/>
              <a:t>├── .env</a:t>
            </a:r>
            <a:endParaRPr lang="en-US" altLang="en-US" sz="2000"/>
          </a:p>
          <a:p>
            <a:r>
              <a:rPr lang="en-US" altLang="en-US" sz="2000"/>
              <a:t>└── .env.example</a:t>
            </a:r>
            <a:endParaRPr lang="en-US" altLang="en-US" sz="2000"/>
          </a:p>
          <a:p>
            <a:endParaRPr lang="en-US" altLang="en-US" sz="2000"/>
          </a:p>
          <a:p>
            <a:r>
              <a:rPr lang="en-US" altLang="en-US" sz="2000"/>
              <a:t>frontend/</a:t>
            </a:r>
            <a:endParaRPr lang="en-US" altLang="en-US" sz="2000"/>
          </a:p>
          <a:p>
            <a:r>
              <a:rPr lang="en-US" altLang="en-US" sz="2000"/>
              <a:t>├── index.html</a:t>
            </a:r>
            <a:endParaRPr lang="en-US" altLang="en-US" sz="2000"/>
          </a:p>
          <a:p>
            <a:r>
              <a:rPr lang="en-US" altLang="en-US" sz="2000"/>
              <a:t>├── style.css</a:t>
            </a:r>
            <a:endParaRPr lang="en-US" altLang="en-US" sz="2000"/>
          </a:p>
          <a:p>
            <a:r>
              <a:rPr lang="en-US" altLang="en-US" sz="2000"/>
              <a:t>└── script.js</a:t>
            </a:r>
            <a:endParaRPr lang="en-US" altLang="en-US" sz="2000"/>
          </a:p>
          <a:p>
            <a:endParaRPr lang="en-US" altLang="en-US" sz="2000"/>
          </a:p>
          <a:p>
            <a:r>
              <a:rPr lang="en-US" altLang="en-US" sz="2000"/>
              <a:t>├── README.md</a:t>
            </a:r>
            <a:endParaRPr lang="en-US" altLang="en-US" sz="2000"/>
          </a:p>
          <a:p>
            <a:r>
              <a:rPr lang="en-US" altLang="en-US" sz="2000"/>
              <a:t>└── .gitignore</a:t>
            </a:r>
            <a:endParaRPr lang="en-US" altLang="en-US" sz="2000"/>
          </a:p>
          <a:p>
            <a:endParaRPr lang="en-US"/>
          </a:p>
          <a:p>
            <a:endParaRPr lang="en-US"/>
          </a:p>
          <a:p>
            <a:endParaRPr lang="en-US"/>
          </a:p>
          <a:p>
            <a:endParaRPr lang="en-US"/>
          </a:p>
          <a:p>
            <a:endParaRPr lang="en-US"/>
          </a:p>
          <a:p>
            <a:r>
              <a:rPr lang="en-US"/>
              <a:t> </a:t>
            </a:r>
            <a:endParaRPr lang="en-IN"/>
          </a:p>
        </p:txBody>
      </p:sp>
      <p:sp>
        <p:nvSpPr>
          <p:cNvPr id="10" name="Arrow: Right 9"/>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1"/>
          <a:stretch>
            <a:fillRect/>
          </a:stretch>
        </p:blipFill>
        <p:spPr>
          <a:xfrm>
            <a:off x="7303135" y="323215"/>
            <a:ext cx="3639820" cy="5645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3" name="Picture 2" descr="Screenshot 2026-09-08 105552"/>
          <p:cNvPicPr>
            <a:picLocks noChangeAspect="1"/>
          </p:cNvPicPr>
          <p:nvPr/>
        </p:nvPicPr>
        <p:blipFill>
          <a:blip r:embed="rId1"/>
          <a:stretch>
            <a:fillRect/>
          </a:stretch>
        </p:blipFill>
        <p:spPr>
          <a:xfrm>
            <a:off x="207010" y="874395"/>
            <a:ext cx="5428615" cy="2554605"/>
          </a:xfrm>
          <a:prstGeom prst="rect">
            <a:avLst/>
          </a:prstGeom>
        </p:spPr>
      </p:pic>
      <p:pic>
        <p:nvPicPr>
          <p:cNvPr id="4" name="Picture 3"/>
          <p:cNvPicPr>
            <a:picLocks noChangeAspect="1"/>
          </p:cNvPicPr>
          <p:nvPr/>
        </p:nvPicPr>
        <p:blipFill>
          <a:blip r:embed="rId2"/>
          <a:stretch>
            <a:fillRect/>
          </a:stretch>
        </p:blipFill>
        <p:spPr>
          <a:xfrm>
            <a:off x="207010" y="3697605"/>
            <a:ext cx="5148580" cy="3034665"/>
          </a:xfrm>
          <a:prstGeom prst="rect">
            <a:avLst/>
          </a:prstGeom>
        </p:spPr>
      </p:pic>
      <p:pic>
        <p:nvPicPr>
          <p:cNvPr id="6" name="Picture 5"/>
          <p:cNvPicPr>
            <a:picLocks noChangeAspect="1"/>
          </p:cNvPicPr>
          <p:nvPr/>
        </p:nvPicPr>
        <p:blipFill>
          <a:blip r:embed="rId3"/>
          <a:stretch>
            <a:fillRect/>
          </a:stretch>
        </p:blipFill>
        <p:spPr>
          <a:xfrm>
            <a:off x="6394450" y="79375"/>
            <a:ext cx="4798060" cy="2753360"/>
          </a:xfrm>
          <a:prstGeom prst="rect">
            <a:avLst/>
          </a:prstGeom>
        </p:spPr>
      </p:pic>
      <p:pic>
        <p:nvPicPr>
          <p:cNvPr id="7" name="Picture 6"/>
          <p:cNvPicPr>
            <a:picLocks noChangeAspect="1"/>
          </p:cNvPicPr>
          <p:nvPr/>
        </p:nvPicPr>
        <p:blipFill>
          <a:blip r:embed="rId4"/>
          <a:stretch>
            <a:fillRect/>
          </a:stretch>
        </p:blipFill>
        <p:spPr>
          <a:xfrm>
            <a:off x="7233285" y="2908935"/>
            <a:ext cx="3396615" cy="37985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209040" y="321945"/>
            <a:ext cx="9773285" cy="6178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4" name="Picture 3"/>
          <p:cNvPicPr>
            <a:picLocks noChangeAspect="1"/>
          </p:cNvPicPr>
          <p:nvPr/>
        </p:nvPicPr>
        <p:blipFill>
          <a:blip r:embed="rId1"/>
          <a:stretch>
            <a:fillRect/>
          </a:stretch>
        </p:blipFill>
        <p:spPr>
          <a:xfrm>
            <a:off x="765810" y="853440"/>
            <a:ext cx="10517505" cy="5598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665" y="1167765"/>
            <a:ext cx="7406640" cy="5292090"/>
          </a:xfrm>
          <a:prstGeom prst="rect">
            <a:avLst/>
          </a:prstGeom>
          <a:noFill/>
        </p:spPr>
        <p:txBody>
          <a:bodyPr wrap="square" rtlCol="0">
            <a:noAutofit/>
          </a:bodyPr>
          <a:lstStyle/>
          <a:p>
            <a:r>
              <a:rPr lang="en-US" b="1"/>
              <a:t>Role of Agentic AI in Nutrition Agent</a:t>
            </a:r>
            <a:r>
              <a:rPr lang="en-IN" altLang="en-US" b="1"/>
              <a:t>:</a:t>
            </a:r>
            <a:endParaRPr lang="en-IN" altLang="en-US" b="1"/>
          </a:p>
          <a:p>
            <a:endParaRPr lang="en-US" b="1"/>
          </a:p>
          <a:p>
            <a:r>
              <a:rPr lang="en-US" altLang="en-US" b="1"/>
              <a:t>Unlike a traditional AI that simply answers questions, our system autonomously performs multiple steps to analyze symptoms and provide a safe, structured health assessment.</a:t>
            </a:r>
            <a:endParaRPr lang="en-US" altLang="en-US" b="1"/>
          </a:p>
          <a:p>
            <a:endParaRPr lang="en-US" altLang="en-US" b="1"/>
          </a:p>
          <a:p>
            <a:r>
              <a:rPr lang="zh-CN" altLang="en-US" b="1"/>
              <a:t>🔁 </a:t>
            </a:r>
            <a:r>
              <a:rPr lang="zh-CN" altLang="en-US" b="1" u="sng"/>
              <a:t>5 </a:t>
            </a:r>
            <a:r>
              <a:rPr lang="en-US" altLang="en-US" b="1" u="sng"/>
              <a:t>Agentic Behaviors</a:t>
            </a:r>
            <a:endParaRPr lang="en-US" altLang="en-US" b="1"/>
          </a:p>
          <a:p>
            <a:r>
              <a:rPr lang="zh-CN" altLang="en-US" b="1"/>
              <a:t>🚨 </a:t>
            </a:r>
            <a:r>
              <a:rPr lang="en-US" altLang="en-US" b="1"/>
              <a:t>Triage Agent – Detects emergency symptoms before calling IBM Granite and triggers an emergency warning.</a:t>
            </a:r>
            <a:endParaRPr lang="en-US" altLang="en-US" b="1"/>
          </a:p>
          <a:p>
            <a:endParaRPr lang="en-US" altLang="en-US" b="1"/>
          </a:p>
          <a:p>
            <a:r>
              <a:rPr lang="zh-CN" altLang="en-US" b="1"/>
              <a:t>🧠</a:t>
            </a:r>
            <a:r>
              <a:rPr lang="zh-CN" altLang="en-US" b="1" u="sng"/>
              <a:t> </a:t>
            </a:r>
            <a:r>
              <a:rPr lang="en-US" altLang="en-US" b="1" u="sng"/>
              <a:t>Context Agent</a:t>
            </a:r>
            <a:r>
              <a:rPr lang="en-US" altLang="en-US" b="1"/>
              <a:t> – Combines symptoms, severity, duration, medical history, medications, allergies, and travel details into a structured prompt.</a:t>
            </a:r>
            <a:endParaRPr lang="en-US" altLang="en-US" b="1"/>
          </a:p>
          <a:p>
            <a:endParaRPr lang="en-US" altLang="en-US" b="1"/>
          </a:p>
          <a:p>
            <a:r>
              <a:rPr lang="zh-CN" altLang="en-US" b="1"/>
              <a:t>🔒 </a:t>
            </a:r>
            <a:r>
              <a:rPr lang="en-US" altLang="en-US" b="1" u="sng"/>
              <a:t>Authentication Agent</a:t>
            </a:r>
            <a:r>
              <a:rPr lang="en-US" altLang="en-US" b="1"/>
              <a:t> – Automatically manages, caches, and refreshes the IBM IAM token.</a:t>
            </a:r>
            <a:endParaRPr lang="en-US" altLang="en-US" b="1"/>
          </a:p>
          <a:p>
            <a:endParaRPr lang="en-US" altLang="en-US" b="1"/>
          </a:p>
          <a:p>
            <a:r>
              <a:rPr lang="zh-CN" altLang="en-US" b="1"/>
              <a:t>📋 </a:t>
            </a:r>
            <a:r>
              <a:rPr lang="en-US" altLang="en-US" b="1" u="sng"/>
              <a:t>Planning Agent</a:t>
            </a:r>
            <a:r>
              <a:rPr lang="en-US" altLang="en-US" b="1"/>
              <a:t> – Structures the Granite response into conditions, urgency, remedies, doctor visit, prevention, and disclaimer.</a:t>
            </a:r>
            <a:endParaRPr lang="en-US" altLang="en-US" b="1"/>
          </a:p>
          <a:p>
            <a:endParaRPr lang="en-US" altLang="en-US" b="1"/>
          </a:p>
          <a:p>
            <a:r>
              <a:rPr lang="zh-CN" altLang="en-US" b="1"/>
              <a:t>🌍 </a:t>
            </a:r>
            <a:r>
              <a:rPr lang="en-US" altLang="en-US" b="1" u="sng"/>
              <a:t>Language Agent</a:t>
            </a:r>
            <a:r>
              <a:rPr lang="en-US" altLang="en-US" b="1"/>
              <a:t> – Adapts the response to the user's selected language.</a:t>
            </a:r>
            <a:endParaRPr lang="en-US" alt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11,761 token are used</a:t>
            </a:r>
            <a:endParaRPr lang="en-US"/>
          </a:p>
        </p:txBody>
      </p:sp>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endParaRPr lang="en-US" sz="2000" u="sng"/>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endParaRPr lang="en-US" sz="2000" u="sng"/>
          </a:p>
        </p:txBody>
      </p:sp>
      <p:pic>
        <p:nvPicPr>
          <p:cNvPr id="2" name="Picture 1" descr="Screenshot 2026-09-08 200412"/>
          <p:cNvPicPr>
            <a:picLocks noChangeAspect="1"/>
          </p:cNvPicPr>
          <p:nvPr/>
        </p:nvPicPr>
        <p:blipFill>
          <a:blip r:embed="rId1"/>
          <a:stretch>
            <a:fillRect/>
          </a:stretch>
        </p:blipFill>
        <p:spPr>
          <a:xfrm>
            <a:off x="6523355" y="2238375"/>
            <a:ext cx="5120005" cy="3376295"/>
          </a:xfrm>
          <a:prstGeom prst="rect">
            <a:avLst/>
          </a:prstGeom>
        </p:spPr>
      </p:pic>
      <p:pic>
        <p:nvPicPr>
          <p:cNvPr id="3" name="Picture 2" descr="Screenshot 2026-09-08 185215"/>
          <p:cNvPicPr>
            <a:picLocks noChangeAspect="1"/>
          </p:cNvPicPr>
          <p:nvPr/>
        </p:nvPicPr>
        <p:blipFill>
          <a:blip r:embed="rId2"/>
          <a:stretch>
            <a:fillRect/>
          </a:stretch>
        </p:blipFill>
        <p:spPr>
          <a:xfrm>
            <a:off x="327660" y="2238375"/>
            <a:ext cx="5116830" cy="33064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descr="Screenshot 2026-09-08 201507"/>
          <p:cNvPicPr>
            <a:picLocks noChangeAspect="1"/>
          </p:cNvPicPr>
          <p:nvPr/>
        </p:nvPicPr>
        <p:blipFill>
          <a:blip r:embed="rId1"/>
          <a:stretch>
            <a:fillRect/>
          </a:stretch>
        </p:blipFill>
        <p:spPr>
          <a:xfrm>
            <a:off x="953135" y="817245"/>
            <a:ext cx="9838690" cy="5072380"/>
          </a:xfrm>
          <a:prstGeom prst="rect">
            <a:avLst/>
          </a:prstGeom>
        </p:spPr>
      </p:pic>
      <p:sp>
        <p:nvSpPr>
          <p:cNvPr id="5" name="Text Box 4"/>
          <p:cNvSpPr txBox="1"/>
          <p:nvPr/>
        </p:nvSpPr>
        <p:spPr>
          <a:xfrm>
            <a:off x="4042410" y="1155065"/>
            <a:ext cx="5080000" cy="2903220"/>
          </a:xfrm>
          <a:prstGeom prst="rect">
            <a:avLst/>
          </a:prstGeom>
        </p:spPr>
        <p:txBody>
          <a:bodyPr>
            <a:noAutofit/>
          </a:bodyPr>
          <a:p>
            <a:endParaRPr lang="en-US" altLang="zh-CN"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1"/>
          <a:stretch>
            <a:fillRect/>
          </a:stretch>
        </p:blipFill>
        <p:spPr>
          <a:xfrm>
            <a:off x="629285" y="817245"/>
            <a:ext cx="5263515" cy="5486400"/>
          </a:xfrm>
          <a:prstGeom prst="rect">
            <a:avLst/>
          </a:prstGeom>
        </p:spPr>
      </p:pic>
      <p:pic>
        <p:nvPicPr>
          <p:cNvPr id="4" name="Picture 3"/>
          <p:cNvPicPr>
            <a:picLocks noChangeAspect="1"/>
          </p:cNvPicPr>
          <p:nvPr/>
        </p:nvPicPr>
        <p:blipFill>
          <a:blip r:embed="rId2"/>
          <a:stretch>
            <a:fillRect/>
          </a:stretch>
        </p:blipFill>
        <p:spPr>
          <a:xfrm>
            <a:off x="6295390" y="777240"/>
            <a:ext cx="5114290" cy="55270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1522730" cy="398780"/>
          </a:xfrm>
          <a:prstGeom prst="rect">
            <a:avLst/>
          </a:prstGeom>
          <a:noFill/>
        </p:spPr>
        <p:txBody>
          <a:bodyPr wrap="none" rtlCol="0">
            <a:spAutoFit/>
          </a:bodyPr>
          <a:lstStyle/>
          <a:p>
            <a:r>
              <a:rPr lang="en-US" sz="2000">
                <a:solidFill>
                  <a:srgbClr val="FF0000"/>
                </a:solidFill>
              </a:rPr>
              <a:t>Please put I</a:t>
            </a:r>
            <a:endParaRPr lang="en-IN" sz="2000">
              <a:solidFill>
                <a:srgbClr val="FF0000"/>
              </a:solidFill>
            </a:endParaRPr>
          </a:p>
        </p:txBody>
      </p:sp>
      <p:pic>
        <p:nvPicPr>
          <p:cNvPr id="3" name="Picture 2" descr="Screenshot 2026-09-08 192641"/>
          <p:cNvPicPr>
            <a:picLocks noChangeAspect="1"/>
          </p:cNvPicPr>
          <p:nvPr/>
        </p:nvPicPr>
        <p:blipFill>
          <a:blip r:embed="rId1"/>
          <a:stretch>
            <a:fillRect/>
          </a:stretch>
        </p:blipFill>
        <p:spPr>
          <a:xfrm>
            <a:off x="137795" y="631190"/>
            <a:ext cx="5721350" cy="5850890"/>
          </a:xfrm>
          <a:prstGeom prst="rect">
            <a:avLst/>
          </a:prstGeom>
        </p:spPr>
      </p:pic>
      <p:pic>
        <p:nvPicPr>
          <p:cNvPr id="5" name="Picture 4" descr="Screenshot 2026-09-08 192635"/>
          <p:cNvPicPr>
            <a:picLocks noChangeAspect="1"/>
          </p:cNvPicPr>
          <p:nvPr/>
        </p:nvPicPr>
        <p:blipFill>
          <a:blip r:embed="rId2"/>
          <a:stretch>
            <a:fillRect/>
          </a:stretch>
        </p:blipFill>
        <p:spPr>
          <a:xfrm>
            <a:off x="6712585" y="664210"/>
            <a:ext cx="4358640" cy="1348740"/>
          </a:xfrm>
          <a:prstGeom prst="rect">
            <a:avLst/>
          </a:prstGeom>
        </p:spPr>
      </p:pic>
      <p:pic>
        <p:nvPicPr>
          <p:cNvPr id="6" name="Picture 5" descr="Screenshot 2026-09-08 192626"/>
          <p:cNvPicPr>
            <a:picLocks noChangeAspect="1"/>
          </p:cNvPicPr>
          <p:nvPr/>
        </p:nvPicPr>
        <p:blipFill>
          <a:blip r:embed="rId3"/>
          <a:stretch>
            <a:fillRect/>
          </a:stretch>
        </p:blipFill>
        <p:spPr>
          <a:xfrm>
            <a:off x="6712585" y="2622550"/>
            <a:ext cx="4358640" cy="37871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213360" y="85217"/>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213360" y="547370"/>
            <a:ext cx="11301730" cy="6188710"/>
          </a:xfrm>
          <a:prstGeom prst="rect">
            <a:avLst/>
          </a:prstGeom>
          <a:noFill/>
        </p:spPr>
        <p:txBody>
          <a:bodyPr wrap="square" rtlCol="0">
            <a:noAutofit/>
          </a:bodyPr>
          <a:lstStyle/>
          <a:p>
            <a:r>
              <a:rPr lang="zh-CN" altLang="en-US"/>
              <a:t>🏗️ </a:t>
            </a:r>
            <a:r>
              <a:rPr lang="en-US" altLang="en-US" b="1"/>
              <a:t>Multi-Agent Architecture</a:t>
            </a:r>
            <a:endParaRPr lang="en-US" altLang="en-US"/>
          </a:p>
          <a:p>
            <a:endParaRPr lang="en-US" altLang="en-US"/>
          </a:p>
          <a:p>
            <a:r>
              <a:rPr lang="en-US" altLang="en-US"/>
              <a:t>5 agents work sequentially: Triage → Auth → Context → Planner → Language.</a:t>
            </a:r>
            <a:endParaRPr lang="en-US" altLang="en-US"/>
          </a:p>
          <a:p>
            <a:endParaRPr lang="en-US" altLang="en-US"/>
          </a:p>
          <a:p>
            <a:r>
              <a:rPr lang="zh-CN" altLang="en-US"/>
              <a:t>🚨</a:t>
            </a:r>
            <a:r>
              <a:rPr lang="zh-CN" altLang="en-US" b="1"/>
              <a:t> </a:t>
            </a:r>
            <a:r>
              <a:rPr lang="en-US" altLang="en-US" b="1"/>
              <a:t>Instant Emergency Detection</a:t>
            </a:r>
            <a:endParaRPr lang="en-US" altLang="en-US"/>
          </a:p>
          <a:p>
            <a:r>
              <a:rPr lang="en-US" altLang="en-US"/>
              <a:t>Flags critical symptoms before the AI call, enabling immediate emergency warnings.</a:t>
            </a:r>
            <a:endParaRPr lang="en-US" altLang="en-US"/>
          </a:p>
          <a:p>
            <a:endParaRPr lang="en-US" altLang="en-US"/>
          </a:p>
          <a:p>
            <a:r>
              <a:rPr lang="zh-CN" altLang="en-US"/>
              <a:t>🧬 </a:t>
            </a:r>
            <a:r>
              <a:rPr lang="en-US" altLang="en-US" b="1"/>
              <a:t>Clinical Context Awareness</a:t>
            </a:r>
            <a:endParaRPr lang="en-US" altLang="en-US"/>
          </a:p>
          <a:p>
            <a:r>
              <a:rPr lang="en-US" altLang="en-US"/>
              <a:t>Considers 9 factors: symptoms, duration, severity, onset, associated symptoms, medications, allergies, conditions, and travel history.</a:t>
            </a:r>
            <a:endParaRPr lang="en-US" altLang="en-US"/>
          </a:p>
          <a:p>
            <a:endParaRPr lang="en-US" altLang="en-US"/>
          </a:p>
          <a:p>
            <a:r>
              <a:rPr lang="zh-CN" altLang="en-US"/>
              <a:t>🤖 </a:t>
            </a:r>
            <a:r>
              <a:rPr lang="en-US" altLang="en-US"/>
              <a:t>I</a:t>
            </a:r>
            <a:r>
              <a:rPr lang="en-US" altLang="en-US" b="1"/>
              <a:t>BM Granite 4 Reasoning</a:t>
            </a:r>
            <a:endParaRPr lang="en-US" altLang="en-US"/>
          </a:p>
          <a:p>
            <a:r>
              <a:rPr lang="en-US" altLang="en-US"/>
              <a:t>Uses IBM Granite 4 as the core AI model for health analysis and structured guidance</a:t>
            </a:r>
            <a:endParaRPr lang="en-US" altLang="en-US"/>
          </a:p>
          <a:p>
            <a:r>
              <a:rPr lang="en-US" altLang="en-US"/>
              <a:t>.</a:t>
            </a:r>
            <a:endParaRPr lang="en-US" altLang="en-US"/>
          </a:p>
          <a:p>
            <a:r>
              <a:rPr lang="zh-CN" altLang="en-US"/>
              <a:t>🌍 </a:t>
            </a:r>
            <a:r>
              <a:rPr lang="zh-CN" altLang="en-US" b="1"/>
              <a:t>9-</a:t>
            </a:r>
            <a:r>
              <a:rPr lang="en-US" altLang="en-US" b="1"/>
              <a:t>Language Support</a:t>
            </a:r>
            <a:endParaRPr lang="en-US" altLang="en-US" b="1"/>
          </a:p>
          <a:p>
            <a:r>
              <a:rPr lang="en-US" altLang="en-US"/>
              <a:t>Generates responses directly in 9 languages without third-party translation APIs.</a:t>
            </a:r>
            <a:endParaRPr lang="en-US" altLang="en-US"/>
          </a:p>
          <a:p>
            <a:endParaRPr lang="en-US" altLang="en-US"/>
          </a:p>
          <a:p>
            <a:r>
              <a:rPr lang="zh-CN" altLang="en-US"/>
              <a:t>🔒</a:t>
            </a:r>
            <a:r>
              <a:rPr lang="zh-CN" altLang="en-US" b="1"/>
              <a:t> </a:t>
            </a:r>
            <a:r>
              <a:rPr lang="en-US" altLang="en-US" b="1"/>
              <a:t>Automatic Authentication</a:t>
            </a:r>
            <a:endParaRPr lang="en-US" altLang="en-US"/>
          </a:p>
          <a:p>
            <a:r>
              <a:rPr lang="en-US" altLang="en-US"/>
              <a:t>Automatically manages and refreshes IBM IAM tokens, preventing session failures.</a:t>
            </a:r>
            <a:endParaRPr lang="en-US" altLang="en-US"/>
          </a:p>
          <a:p>
            <a:endParaRPr lang="en-US" altLang="en-US"/>
          </a:p>
          <a:p>
            <a:r>
              <a:rPr lang="zh-CN" altLang="en-US"/>
              <a:t>📋 </a:t>
            </a:r>
            <a:r>
              <a:rPr lang="en-US" altLang="en-US" b="1"/>
              <a:t>Evidence-Based Guidance</a:t>
            </a:r>
            <a:endParaRPr lang="en-US" altLang="en-US"/>
          </a:p>
          <a:p>
            <a:r>
              <a:rPr lang="en-US" altLang="en-US"/>
              <a:t>System prompt aligns responses with WHO/CDC guidance, urgency levels, and medical disclaimers.</a:t>
            </a:r>
            <a:endParaRPr lang="en-US" altLang="en-US"/>
          </a:p>
          <a:p>
            <a:endParaRPr lang="en-US" altLang="en-US"/>
          </a:p>
          <a:p>
            <a:r>
              <a:rPr lang="zh-CN" altLang="en-US"/>
              <a:t>🛡️ </a:t>
            </a:r>
            <a:r>
              <a:rPr lang="en-US" altLang="en-US" b="1"/>
              <a:t>Safety-First Design</a:t>
            </a:r>
            <a:endParaRPr lang="en-US" altLang="en-US" b="1"/>
          </a:p>
          <a:p>
            <a:r>
              <a:rPr lang="en-US" altLang="en-US"/>
              <a:t>Provides educational guidance, not definitive diagnosis, with clear warnings and doctor recommendations.</a:t>
            </a:r>
            <a:endParaRPr lang="en-US" altLang="en-US"/>
          </a:p>
          <a:p>
            <a:endParaRPr lang="en-US" altLang="en-US"/>
          </a:p>
          <a:p>
            <a:r>
              <a:rPr lang="zh-CN" altLang="en-US"/>
              <a:t>💊 </a:t>
            </a:r>
            <a:r>
              <a:rPr lang="en-US" altLang="en-US" b="1"/>
              <a:t>Medication &amp; Allergy Awareness</a:t>
            </a:r>
            <a:endParaRPr lang="en-US" altLang="en-US" b="1"/>
          </a:p>
          <a:p>
            <a:r>
              <a:rPr lang="en-US" altLang="en-US"/>
              <a:t>Considers medications and allergies when generating health recommendations.</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565" y="2451100"/>
            <a:ext cx="9214485" cy="1297305"/>
          </a:xfrm>
          <a:prstGeom prst="rect">
            <a:avLst/>
          </a:prstGeom>
          <a:noFill/>
          <a:ln>
            <a:noFill/>
          </a:ln>
        </p:spPr>
        <p:txBody>
          <a:bodyPr spcFirstLastPara="1" wrap="square" lIns="0" tIns="0" rIns="0" bIns="0" anchor="t" anchorCtr="0">
            <a:noAutofit/>
          </a:bodyPr>
          <a:lstStyle/>
          <a:p>
            <a:pPr marL="0" marR="0" lvl="0" indent="0" algn="ctr" rtl="0">
              <a:lnSpc>
                <a:spcPct val="162000"/>
              </a:lnSpc>
              <a:spcBef>
                <a:spcPts val="0"/>
              </a:spcBef>
              <a:spcAft>
                <a:spcPts val="0"/>
              </a:spcAft>
              <a:buClr>
                <a:srgbClr val="2B3541"/>
              </a:buClr>
              <a:buSzPts val="1850"/>
              <a:buFont typeface="Times New Roman" panose="02020603050405020304"/>
              <a:buNone/>
            </a:pPr>
            <a:r>
              <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https://github.com/praneetvarma/Agentic-AI-Health-Symptom-Checker</a:t>
            </a:r>
            <a:endParaRPr lang="en-US" alt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565" y="1221740"/>
            <a:ext cx="9214485" cy="485521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 Wearable &amp; Health Device Integration</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Integrate smartwatches and health devices to use real-time data such as heart rate, sleep, activity, and other health metrics for more personalized risk assessment.</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2. Voice &amp; Advanced Multilingual Support</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Enable voice-based symptom input and expand multilingual support, making the system more accessible to users across different languages and regions.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Please  add your </a:t>
            </a:r>
            <a:r>
              <a:rPr lang="en-US" sz="2400" b="1" dirty="0" err="1"/>
              <a:t>credly</a:t>
            </a:r>
            <a:r>
              <a:rPr lang="en-US" sz="2400" b="1" dirty="0"/>
              <a:t> certificate(Getting Started with Artificial Intelligence)  </a:t>
            </a:r>
            <a:endParaRPr lang="en-US" sz="2400" b="1" dirty="0"/>
          </a:p>
        </p:txBody>
      </p:sp>
      <p:pic>
        <p:nvPicPr>
          <p:cNvPr id="2" name="Picture 1"/>
          <p:cNvPicPr>
            <a:picLocks noChangeAspect="1"/>
          </p:cNvPicPr>
          <p:nvPr/>
        </p:nvPicPr>
        <p:blipFill>
          <a:blip r:embed="rId1"/>
          <a:stretch>
            <a:fillRect/>
          </a:stretch>
        </p:blipFill>
        <p:spPr>
          <a:xfrm>
            <a:off x="2082165" y="1196975"/>
            <a:ext cx="8392795" cy="5486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p:cNvPicPr>
            <a:picLocks noChangeAspect="1"/>
          </p:cNvPicPr>
          <p:nvPr/>
        </p:nvPicPr>
        <p:blipFill>
          <a:blip r:embed="rId1"/>
          <a:stretch>
            <a:fillRect/>
          </a:stretch>
        </p:blipFill>
        <p:spPr>
          <a:xfrm>
            <a:off x="1518285" y="1703705"/>
            <a:ext cx="8973820" cy="46577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747*185"/>
  <p:tag name="TABLE_ENDDRAG_RECT" val="95*206*747*18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6278</Words>
  <Application>WPS Presentation</Application>
  <PresentationFormat>Widescreen</PresentationFormat>
  <Paragraphs>233</Paragraphs>
  <Slides>20</Slides>
  <Notes>16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Arial</vt:lpstr>
      <vt:lpstr>Calibri</vt:lpstr>
      <vt:lpstr>Times New Roman</vt:lpstr>
      <vt:lpstr>Microsoft YaHei</vt:lpstr>
      <vt:lpstr>Arial Unicode MS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prane</cp:lastModifiedBy>
  <cp:revision>4</cp:revision>
  <dcterms:created xsi:type="dcterms:W3CDTF">2025-07-08T05:06:00Z</dcterms:created>
  <dcterms:modified xsi:type="dcterms:W3CDTF">2026-09-08T16:18:01Z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3B6877DFD88841DE845C1B2E143F6EDA_13</vt:lpwstr>
  </property>
</Properties>
</file>